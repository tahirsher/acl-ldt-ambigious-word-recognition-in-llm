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68" r:id="rId14"/>
    <p:sldId id="269" r:id="rId15"/>
    <p:sldId id="270" r:id="rId11"/>
    <p:sldId id="271" r:id="rId12"/>
    <p:sldId id="272" r:id="rId13"/>
    <p:sldId id="273" r:id="rId10"/>
    <p:sldId id="274" r:id="rId9"/>
    <p:sldId id="275" r:id="rId16"/>
    <p:sldId id="276" r:id="rId17"/>
    <p:sldId id="277" r:id="rId18"/>
    <p:sldId id="278" r:id="rId19"/>
    <p:sldId id="279" r:id="rId20"/>
    <p:sldId id="280" r:id="rId21"/>
    <p:sldId id="281" r:id="rId22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9" Type="http://schemas.openxmlformats.org/officeDocument/2006/relationships/slide" Target="slides/slide9.xml"/><Relationship Id="rId10" Type="http://schemas.openxmlformats.org/officeDocument/2006/relationships/slide" Target="slides/slide8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Ambiguity · homonym vs unambiguous</c:v>
                </c:pt>
              </c:strCache>
            </c:strRef>
          </c:tx>
          <c:spPr>
            <a:ln w="25400">
              <a:solidFill>
                <a:srgbClr val="A8446E"/>
              </a:solidFill>
            </a:ln>
          </c:spPr>
          <c:marker>
            <c:size val="6"/>
            <c:spPr>
              <a:solidFill>
                <a:srgbClr val="A8446E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0.168</c:v>
                </c:pt>
                <c:pt idx="1">
                  <c:v>0.201</c:v>
                </c:pt>
                <c:pt idx="2">
                  <c:v>0.191</c:v>
                </c:pt>
                <c:pt idx="3">
                  <c:v>0.277</c:v>
                </c:pt>
                <c:pt idx="4">
                  <c:v>0.267</c:v>
                </c:pt>
                <c:pt idx="5">
                  <c:v>0.254</c:v>
                </c:pt>
                <c:pt idx="6">
                  <c:v>0.253</c:v>
                </c:pt>
                <c:pt idx="7">
                  <c:v>0.273</c:v>
                </c:pt>
                <c:pt idx="8">
                  <c:v>0.229</c:v>
                </c:pt>
                <c:pt idx="9">
                  <c:v>0.242</c:v>
                </c:pt>
                <c:pt idx="10">
                  <c:v>0.227</c:v>
                </c:pt>
                <c:pt idx="11">
                  <c:v>0.287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Frequency · log SUBTLEX</c:v>
                </c:pt>
              </c:strCache>
            </c:strRef>
          </c:tx>
          <c:spPr>
            <a:ln w="25400">
              <a:solidFill>
                <a:srgbClr val="2E5FA3"/>
              </a:solidFill>
            </a:ln>
          </c:spPr>
          <c:marker>
            <c:size val="6"/>
            <c:spPr>
              <a:solidFill>
                <a:srgbClr val="2E5FA3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-0.037</c:v>
                </c:pt>
                <c:pt idx="1">
                  <c:v>-0.023</c:v>
                </c:pt>
                <c:pt idx="2">
                  <c:v>-0.015</c:v>
                </c:pt>
                <c:pt idx="3">
                  <c:v>0.007</c:v>
                </c:pt>
                <c:pt idx="4">
                  <c:v>0.017</c:v>
                </c:pt>
                <c:pt idx="5">
                  <c:v>0.006</c:v>
                </c:pt>
                <c:pt idx="6">
                  <c:v>0.012</c:v>
                </c:pt>
                <c:pt idx="7">
                  <c:v>0.021</c:v>
                </c:pt>
                <c:pt idx="8">
                  <c:v>-0.013</c:v>
                </c:pt>
                <c:pt idx="9">
                  <c:v>-0.026</c:v>
                </c:pt>
                <c:pt idx="10">
                  <c:v>-0.05</c:v>
                </c:pt>
                <c:pt idx="11">
                  <c:v>-0.009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txPr>
          <a:bodyPr/>
          <a:lstStyle/>
          <a:p>
            <a:pPr>
              <a:defRPr sz="1000">
                <a:solidFill>
                  <a:srgbClr val="8E8E8E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35"/>
          <c:min val="-0.1"/>
        </c:scaling>
        <c:delete val="0"/>
        <c:axPos val="l"/>
        <c:majorGridlines>
          <c:spPr>
            <a:ln w="6350">
              <a:solidFill>
                <a:srgbClr val="D6D6D6"/>
              </a:solidFill>
            </a:ln>
          </c:spPr>
        </c:majorGridlines>
        <c:numFmt formatCode="0.00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8E8E8E"/>
                </a:solidFill>
                <a:latin typeface="Calibri"/>
              </a:defRPr>
            </a:pPr>
          </a:p>
        </c:txPr>
        <c:crossAx val="2118791784"/>
        <c:crosses val="autoZero"/>
        <c:majorUnit val="0.1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E5E5E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574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F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Word Frequency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9260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B9BF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time course and stimulus design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85800" y="3703320"/>
            <a:ext cx="2194560" cy="0"/>
          </a:xfrm>
          <a:prstGeom prst="line">
            <a:avLst/>
          </a:prstGeom>
          <a:noFill/>
          <a:ln w="15240">
            <a:solidFill>
              <a:srgbClr val="4A50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9136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D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lexical variables separate from word frequency, at what latency,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D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the values can actually be obtained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2910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5720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significant windows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549640" y="658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under each row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656582" y="95097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P1/N1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33772" y="11704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95097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N250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40780" y="11704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N400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126730" y="95097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P600/LPC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1399032"/>
            <a:ext cx="1078992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146304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length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162306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form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274320" y="176022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Hauk et al. (2006)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56582" y="1581912"/>
            <a:ext cx="75438" cy="164592"/>
          </a:xfrm>
          <a:prstGeom prst="rect">
            <a:avLst/>
          </a:prstGeom>
          <a:solidFill>
            <a:srgbClr val="1B7A6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5800" y="1897380"/>
            <a:ext cx="1078992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85800" y="19613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frequency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21214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274320" y="225856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Dambacher et al. (2006) · Hauk et al. (2006)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33772" y="2080260"/>
            <a:ext cx="452628" cy="164592"/>
          </a:xfrm>
          <a:prstGeom prst="rect">
            <a:avLst/>
          </a:prstGeom>
          <a:solidFill>
            <a:srgbClr val="2E5FA3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240780" y="2080260"/>
            <a:ext cx="1508760" cy="164592"/>
          </a:xfrm>
          <a:prstGeom prst="rect">
            <a:avLst/>
          </a:prstGeom>
          <a:solidFill>
            <a:srgbClr val="A8446E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85800" y="2395728"/>
            <a:ext cx="1078992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85800" y="245973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Lexicality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261975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vs pseudoword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74320" y="2756916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Hauk et al. (2006)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184648" y="2578608"/>
            <a:ext cx="2564892" cy="164592"/>
          </a:xfrm>
          <a:prstGeom prst="rect">
            <a:avLst/>
          </a:prstGeom>
          <a:solidFill>
            <a:srgbClr val="2E5FA3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85800" y="2894076"/>
            <a:ext cx="1078992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85800" y="295808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richness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3118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count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274320" y="3255264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Amsel (2011)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22546" y="3076956"/>
            <a:ext cx="120701" cy="164592"/>
          </a:xfrm>
          <a:prstGeom prst="rect">
            <a:avLst/>
          </a:prstGeom>
          <a:solidFill>
            <a:srgbClr val="1B7A6B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486400" y="3076956"/>
            <a:ext cx="754380" cy="164592"/>
          </a:xfrm>
          <a:prstGeom prst="rect">
            <a:avLst/>
          </a:prstGeom>
          <a:solidFill>
            <a:srgbClr val="6B4FA8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85800" y="3392424"/>
            <a:ext cx="1078992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85800" y="345643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transparency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361645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274320" y="3753612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 et al. (2019) · Morris et al. (2007)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71670" y="3575304"/>
            <a:ext cx="120701" cy="164592"/>
          </a:xfrm>
          <a:prstGeom prst="rect">
            <a:avLst/>
          </a:prstGeom>
          <a:solidFill>
            <a:srgbClr val="1B7A6B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5486400" y="3575304"/>
            <a:ext cx="754380" cy="164592"/>
          </a:xfrm>
          <a:prstGeom prst="rect">
            <a:avLst/>
          </a:prstGeom>
          <a:solidFill>
            <a:srgbClr val="6B4FA8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240780" y="3575304"/>
            <a:ext cx="1508760" cy="164592"/>
          </a:xfrm>
          <a:prstGeom prst="rect">
            <a:avLst/>
          </a:prstGeom>
          <a:solidFill>
            <a:srgbClr val="A8446E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85800" y="3890772"/>
            <a:ext cx="1078992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685800" y="39547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diversity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4114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reversed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274320" y="425196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Vergara-Martínez et al. (2017)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674995" y="4073652"/>
            <a:ext cx="754380" cy="164592"/>
          </a:xfrm>
          <a:prstGeom prst="rect">
            <a:avLst/>
          </a:prstGeom>
          <a:solidFill>
            <a:srgbClr val="6B4FA8"/>
          </a:solidFill>
          <a:ln/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85800" y="4389120"/>
            <a:ext cx="1078992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 txBox="1"/>
          <p:nvPr/>
        </p:nvSpPr>
        <p:spPr>
          <a:xfrm>
            <a:off x="685800" y="445312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Concreteness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461314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windows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274320" y="475030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&amp; Holcomb (2000)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240780" y="4572000"/>
            <a:ext cx="1508760" cy="164592"/>
          </a:xfrm>
          <a:prstGeom prst="rect">
            <a:avLst/>
          </a:prstGeom>
          <a:solidFill>
            <a:srgbClr val="A8446E"/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7749540" y="4572000"/>
            <a:ext cx="2263140" cy="164592"/>
          </a:xfrm>
          <a:prstGeom prst="rect">
            <a:avLst/>
          </a:prstGeom>
          <a:solidFill>
            <a:srgbClr val="B0622A"/>
          </a:solidFill>
          <a:ln/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685800" y="4887468"/>
            <a:ext cx="1078992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 txBox="1"/>
          <p:nvPr/>
        </p:nvSpPr>
        <p:spPr>
          <a:xfrm>
            <a:off x="685800" y="495147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ambiguity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85800" y="511149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· priming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274320" y="5248656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Klepousniotou et al. (2012)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617970" y="5070348"/>
            <a:ext cx="754380" cy="164592"/>
          </a:xfrm>
          <a:prstGeom prst="rect">
            <a:avLst/>
          </a:prstGeom>
          <a:solidFill>
            <a:srgbClr val="A8446E"/>
          </a:solidFill>
          <a:ln/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685800" y="5385816"/>
            <a:ext cx="1078992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 txBox="1"/>
          <p:nvPr/>
        </p:nvSpPr>
        <p:spPr>
          <a:xfrm>
            <a:off x="685800" y="544982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ambiguity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685800" y="560984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· lexical decision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274320" y="5747004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Kim, Kim &amp; Nam (2024)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617970" y="5568696"/>
            <a:ext cx="1508760" cy="164592"/>
          </a:xfrm>
          <a:prstGeom prst="rect">
            <a:avLst/>
          </a:prstGeom>
          <a:solidFill>
            <a:srgbClr val="A8446E"/>
          </a:solidFill>
          <a:ln/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8503920" y="5568696"/>
            <a:ext cx="3017520" cy="164592"/>
          </a:xfrm>
          <a:prstGeom prst="rect">
            <a:avLst/>
          </a:prstGeom>
          <a:solidFill>
            <a:srgbClr val="B0622A"/>
          </a:solidFill>
          <a:ln/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3977640" y="5948172"/>
            <a:ext cx="7543800" cy="0"/>
          </a:xfrm>
          <a:prstGeom prst="line">
            <a:avLst/>
          </a:prstGeom>
          <a:noFill/>
          <a:ln w="11430">
            <a:solidFill>
              <a:srgbClr val="9A9A9A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3977640" y="5948172"/>
            <a:ext cx="0" cy="64008"/>
          </a:xfrm>
          <a:prstGeom prst="line">
            <a:avLst/>
          </a:prstGeom>
          <a:noFill/>
          <a:ln w="11430">
            <a:solidFill>
              <a:srgbClr val="9A9A9A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 txBox="1"/>
          <p:nvPr/>
        </p:nvSpPr>
        <p:spPr>
          <a:xfrm>
            <a:off x="3703320" y="60213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486400" y="5948172"/>
            <a:ext cx="0" cy="64008"/>
          </a:xfrm>
          <a:prstGeom prst="line">
            <a:avLst/>
          </a:prstGeom>
          <a:noFill/>
          <a:ln w="11430">
            <a:solidFill>
              <a:srgbClr val="9A9A9A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 txBox="1"/>
          <p:nvPr/>
        </p:nvSpPr>
        <p:spPr>
          <a:xfrm>
            <a:off x="5212080" y="60213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995160" y="5948172"/>
            <a:ext cx="0" cy="64008"/>
          </a:xfrm>
          <a:prstGeom prst="line">
            <a:avLst/>
          </a:prstGeom>
          <a:noFill/>
          <a:ln w="11430">
            <a:solidFill>
              <a:srgbClr val="9A9A9A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 txBox="1"/>
          <p:nvPr/>
        </p:nvSpPr>
        <p:spPr>
          <a:xfrm>
            <a:off x="6720840" y="60213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503920" y="5948172"/>
            <a:ext cx="0" cy="64008"/>
          </a:xfrm>
          <a:prstGeom prst="line">
            <a:avLst/>
          </a:prstGeom>
          <a:noFill/>
          <a:ln w="11430">
            <a:solidFill>
              <a:srgbClr val="9A9A9A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 txBox="1"/>
          <p:nvPr/>
        </p:nvSpPr>
        <p:spPr>
          <a:xfrm>
            <a:off x="8229600" y="60213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0012680" y="5948172"/>
            <a:ext cx="0" cy="64008"/>
          </a:xfrm>
          <a:prstGeom prst="line">
            <a:avLst/>
          </a:prstGeom>
          <a:noFill/>
          <a:ln w="11430">
            <a:solidFill>
              <a:srgbClr val="9A9A9A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 txBox="1"/>
          <p:nvPr/>
        </p:nvSpPr>
        <p:spPr>
          <a:xfrm>
            <a:off x="9738360" y="60213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1521440" y="5948172"/>
            <a:ext cx="0" cy="64008"/>
          </a:xfrm>
          <a:prstGeom prst="line">
            <a:avLst/>
          </a:prstGeom>
          <a:noFill/>
          <a:ln w="11430">
            <a:solidFill>
              <a:srgbClr val="9A9A9A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 txBox="1"/>
          <p:nvPr/>
        </p:nvSpPr>
        <p:spPr>
          <a:xfrm>
            <a:off x="11247120" y="60213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4" name="Text 72"/>
          <p:cNvSpPr txBox="1"/>
          <p:nvPr/>
        </p:nvSpPr>
        <p:spPr>
          <a:xfrm>
            <a:off x="3291840" y="60213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685800" y="638251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bars mark a peak latency, long bars a reported window. Ambiguity is split by design: priming gives the narrower N400, lexical decision adds the P600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2910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6692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ambiguity: two kinds, opposite directions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07008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the distinction and the two effects cancel. Rodd, Gaskell &amp; Marslen-Wilson (2002)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4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591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unrelated, separate dictionary entries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4754880" cy="0"/>
          </a:xfrm>
          <a:prstGeom prst="line">
            <a:avLst/>
          </a:prstGeom>
          <a:noFill/>
          <a:ln w="17780">
            <a:solidFill>
              <a:srgbClr val="A8446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880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 river edge / financial institution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meanings, slower lexical decision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593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Meanings compete for selection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931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4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disadvantage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Senses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3591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related, listed as subentries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2697480"/>
            <a:ext cx="4754880" cy="0"/>
          </a:xfrm>
          <a:prstGeom prst="line">
            <a:avLst/>
          </a:prstGeom>
          <a:noFill/>
          <a:ln w="17780">
            <a:solidFill>
              <a:srgbClr val="1B7A6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263640" y="2880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 material / newspaper / article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senses, faster lexical decision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593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Senses converge on one rich representation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931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advantage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4526280"/>
            <a:ext cx="1078992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5800" y="4681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operationalise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983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4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entries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230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Wordsmyth, standard dictionaries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4983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4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WordNet synsets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5230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Automatic. Watch inflected forms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4983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4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eDom dominance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5230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Armstrong et al. (2012), 544 words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915400" y="4983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4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Relatedness ratings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915400" y="5230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Azuma &amp; Van Orden (1997)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254496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ERP: Kim, Kim &amp; Nam (2024), 36 Korean three-syllable homonyms. N400 350–550 ms for high frequency, P600 600–1000 ms for low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2910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6692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ambiguity: two accounts, two windows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07008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accounts predict opposite directions, and the effect splits across two windows by frequency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feedback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494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Balota et al. · Hino &amp; Lupker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420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activation gains at the semantic level feed back to orthography.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ambiguous words are recognised faster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9202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dynamics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2494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4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Rodd et al. · Armstrong &amp; Plaut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5420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 meanings compete during semantic access, related senses cooperate.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homonyms are slower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310128"/>
            <a:ext cx="10789920" cy="0"/>
          </a:xfrm>
          <a:prstGeom prst="line">
            <a:avLst/>
          </a:prstGeom>
          <a:noFill/>
          <a:ln w="11430">
            <a:solidFill>
              <a:srgbClr val="9A9A9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85800" y="3447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shows up in the ERP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8130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N400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38587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350–550 ms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38587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3840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negativity for high-frequency homonyms. Competition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398264"/>
            <a:ext cx="1078992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85800" y="4526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P600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45720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600–1000 ms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45720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positivity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4553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for low-frequency homonyms. Fits the feedback account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5111496"/>
            <a:ext cx="1078992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5800" y="52395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4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Homonymy vs polysemy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154680" y="52852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Klepousniotou et al. (2012)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40680" y="52852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N400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526694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Homonyms track dominance; polysemes reduce the N400 for both senses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6254496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account, decision-level processing (Pexman et al. 2004 · Hino et al. 2006), was judged inconsistent with the data by Kim, Kim &amp; Nam (2024)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mbria"/>
              </a:rPr>
              <a:t>The question: shallow or deep?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07008"/>
            <a:ext cx="9692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If the two variables sit at different points in the processing order, their layer profiles should separate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38528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mbria"/>
              </a:rPr>
              <a:t>Word frequency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E8E8E"/>
                </a:solidFill>
                <a:latin typeface="Calibri"/>
              </a:rPr>
              <a:t>The premise — the side already reported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15184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In ERP: the P200, 140–200 ms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In a transformer: shallow layers, where form and frequency information collects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38528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A8446E"/>
                </a:solidFill>
                <a:latin typeface="Cambria"/>
              </a:rPr>
              <a:t>Semantic ambiguity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86000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E8E8E"/>
                </a:solidFill>
                <a:latin typeface="Calibri"/>
              </a:rPr>
              <a:t>The question — the side being tested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615184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In ERP: the N400 and the P600, 350–1000 ms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In a transformer: does it emerge in the deep layers?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584448"/>
            <a:ext cx="10332720" cy="0"/>
          </a:xfrm>
          <a:prstGeom prst="line">
            <a:avLst/>
          </a:prstGeom>
          <a:noFill/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749039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Why the two axes map onto each other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78224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Calibri"/>
              </a:rPr>
              <a:t>ERP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078224"/>
            <a:ext cx="7223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Time elapsed since stimulus onset. An earlier component means an earlier processing stage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62272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Calibri"/>
              </a:rPr>
              <a:t>Transformer layer 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462272"/>
            <a:ext cx="7223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Position between input and output. A shallower layer means an earlier processing 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46320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Calibri"/>
              </a:rPr>
              <a:t>What they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846320"/>
            <a:ext cx="7223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Both read out processing order. That is what lets one hypothesis be asked in two media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285232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449824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Prediction — the frequency effect is large in shallow layers and flattens with depth. The ambiguity effect does the opposite.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Two curves that cross, or at least slopes of opposite sign, is the result this study is looking for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291072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E8E8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mbria"/>
              </a:rPr>
              <a:t>Two routes to the same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07008"/>
            <a:ext cx="9692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One hypothesis, pushed from the stimulus side and from the prompt side. Both should point the same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93392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E8E8E"/>
                </a:solidFill>
                <a:latin typeface="Calibri"/>
              </a:rPr>
              <a:t>Route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942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B7A6B"/>
                </a:solidFill>
                <a:latin typeface="Cambria"/>
              </a:rPr>
              <a:t>Stimulus manipulation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43200"/>
            <a:ext cx="4937760" cy="0"/>
          </a:xfrm>
          <a:prstGeom prst="line">
            <a:avLst/>
          </a:prstGeom>
          <a:noFill/>
          <a:ln w="15240">
            <a:solidFill>
              <a:srgbClr val="1B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889504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Feed in high- and low-ambiguity words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and read the layerwise difference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94176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The effect is produced by item properties.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Reproduce the published result on Rodd's items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first, then scale to 1,633 derived items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93392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E8E8E"/>
                </a:solidFill>
                <a:latin typeface="Calibri"/>
              </a:rPr>
              <a:t>Route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4942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A8446E"/>
                </a:solidFill>
                <a:latin typeface="Cambria"/>
              </a:rPr>
              <a:t>Prompt manipulation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743200"/>
            <a:ext cx="4937760" cy="0"/>
          </a:xfrm>
          <a:prstGeom prst="line">
            <a:avLst/>
          </a:prstGeom>
          <a:noFill/>
          <a:ln w="15240">
            <a:solidFill>
              <a:srgbClr val="A8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889504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Hold the word fixed, vary context and task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instruction, and read the layerwise difference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694176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The effect is produced by input conditions.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Shallow effects should be insensitive to the prompt,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deep effects sensitive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974336"/>
            <a:ext cx="10332720" cy="0"/>
          </a:xfrm>
          <a:prstGeom prst="line">
            <a:avLst/>
          </a:prstGeom>
          <a:noFill/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13892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Each route checks the other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49824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On its own, a stimulus manipulation leaves open that the layer profile is a by-product of item properties. If the same word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behaves differently in deep layers only when the prompt changes, the depth comes from the processing stage, not the item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291072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E8E8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mbria"/>
              </a:rPr>
              <a:t>What gets read off each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07008"/>
            <a:ext cx="9692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To test a depth hypothesis, frequency and ambiguity have to be compared on the same measure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865376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56816"/>
            <a:ext cx="2743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5FA3"/>
                </a:solidFill>
                <a:latin typeface="Cambria"/>
              </a:rPr>
              <a:t>Representation distance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993392"/>
            <a:ext cx="4023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Cosine distance between two usages of the same word, layer by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993392"/>
            <a:ext cx="32004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Sensitive to ambiguity. Frequency cannot appear on it at 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816352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07792"/>
            <a:ext cx="2743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6B4FA8"/>
                </a:solidFill>
                <a:latin typeface="Cambria"/>
              </a:rPr>
              <a:t>Layerwise surprisal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944368"/>
            <a:ext cx="4023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Log-probability of the target token at each layer, via the logit lens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944368"/>
            <a:ext cx="32004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Frequency surfaces directly. Puts both variables on one axis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767328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0622A"/>
                </a:solidFill>
                <a:latin typeface="Cambria"/>
              </a:rPr>
              <a:t>Probing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895344"/>
            <a:ext cx="4023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A linear probe per layer, classifying the condition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895344"/>
            <a:ext cx="32004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Compares information by layer. Needs probe capacity controlled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718304"/>
            <a:ext cx="10332720" cy="0"/>
          </a:xfrm>
          <a:prstGeom prst="line">
            <a:avLst/>
          </a:prstGeom>
          <a:noFill/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901184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Choosing the measure decides half the hypothesis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2120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Testing the “frequency is shallow” half requires a measure on which frequency can register at all.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Run distance alone and the ambiguity curve appears while the frequency curve lies flat at zero by construction — as it did here.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Make layerwise surprisal the primary measure and report representation distance alongside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291072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E8E8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mbria"/>
              </a:rPr>
              <a:t>Pilot: does ambiguity grow with depth?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07008"/>
            <a:ext cx="9692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DeLong, Trott &amp; Kutas (2022) released data, 314 words. BERT-large, distance between usages by layer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1874519"/>
          <a:ext cx="676656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596128"/>
            <a:ext cx="6766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E8E8E"/>
                </a:solidFill>
                <a:latin typeface="Calibri"/>
              </a:rPr>
              <a:t>BERT-large layer depth  1 →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9202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What the data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249424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The ambiguity correlation rises from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.17 at layer 1 to .29 at layer 12.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The homonym–unambiguous gap in mean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distance widens from .035 to .060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3529584"/>
            <a:ext cx="338328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675887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A8446E"/>
                </a:solidFill>
                <a:latin typeface="Calibri"/>
              </a:rPr>
              <a:t>What they do not show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005072"/>
            <a:ext cx="3383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Frequency is |r| ≤ .05 at every layer.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This measure is a distance between two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usages of one word, so a frequency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effect has nowhere to appear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5413248"/>
            <a:ext cx="3383280" cy="0"/>
          </a:xfrm>
          <a:prstGeom prst="line">
            <a:avLst/>
          </a:prstGeom>
          <a:noFill/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5541264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A8446E"/>
                </a:solidFill>
                <a:latin typeface="Calibri"/>
              </a:rPr>
              <a:t>The direction fits the hypothesis,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A8446E"/>
                </a:solidFill>
                <a:latin typeface="Calibri"/>
              </a:rPr>
              <a:t>but the shallow half is untested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54496"/>
            <a:ext cx="10149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E8E8E"/>
                </a:solidFill>
                <a:latin typeface="Calibri"/>
              </a:rPr>
              <a:t>The effect is already sizeable at layer 1. What the data support is “it grows with depth,” not “it appears only in deep layers”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291072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E8E8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mbria"/>
              </a:rPr>
              <a:t>Route 1 · the stimulus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07008"/>
            <a:ext cx="9692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ambiguity_items_combined.csv — 2,035 rows · 1,942 words · 35 columns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5FA3"/>
                </a:solidFill>
                <a:latin typeface="Cambria"/>
              </a:rPr>
              <a:t>published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67712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Calibri"/>
              </a:rPr>
              <a:t>402 rows · 309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938528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Rodd, Gaskell &amp; Marslen-Wilson (2002)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Checked word by word against printed Appendices A, B and C — zero mismatches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99232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A8446E"/>
                </a:solidFill>
                <a:latin typeface="Cambria"/>
              </a:rPr>
              <a:t>wordnet-derived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46704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Calibri"/>
              </a:rPr>
              <a:t>1,633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301752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Derived from WordNet 3.0. Never run in any experiment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No condition labels, so they cannot serve as factorial cells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133087"/>
            <a:ext cx="10332720" cy="0"/>
          </a:xfrm>
          <a:prstGeom prst="line">
            <a:avLst/>
          </a:prstGeom>
          <a:noFill/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7939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The two sets differ on the control 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4645152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E8E8E"/>
                </a:solidFill>
                <a:latin typeface="Calibri"/>
              </a:rPr>
              <a:t>published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645152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E8E8E"/>
                </a:solidFill>
                <a:latin typeface="Calibri"/>
              </a:rPr>
              <a:t>derived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82896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Length, median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4882896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882896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157216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Log frequency, median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5157216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Calibri"/>
              </a:rPr>
              <a:t>2.80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5157216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Calibri"/>
              </a:rPr>
              <a:t>2.31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431536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Orthographic N, median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5431536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5431536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645152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Derived items are longer, rarer and far more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orthographically isolated. Mixed in unmatched, ambiguity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is confounded with length, frequency and neighbourhood at once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59612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A8446E"/>
                </a:solidFill>
                <a:latin typeface="Calibri"/>
              </a:rPr>
              <a:t>Filtering to the matched range leaves 646; with both predictors, 596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291072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E8E8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mbria"/>
              </a:rPr>
              <a:t>Putting a number on ambiguity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07008"/>
            <a:ext cx="9692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Rodd Appendices B and C, 220 rows — the window where senses and meanings are orthogonal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1920240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E8E8E"/>
                </a:solidFill>
                <a:latin typeface="Calibri"/>
              </a:rPr>
              <a:t>r · meanings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920240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E8E8E"/>
                </a:solidFill>
                <a:latin typeface="Calibri"/>
              </a:rPr>
              <a:t>r · senses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94560"/>
            <a:ext cx="10332720" cy="0"/>
          </a:xfrm>
          <a:prstGeom prst="line">
            <a:avLst/>
          </a:prstGeom>
          <a:noFill/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40864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A8446E"/>
                </a:solidFill>
                <a:latin typeface="Cambria"/>
              </a:rPr>
              <a:t>gcide_etymologies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E8E8E"/>
                </a:solidFill>
                <a:latin typeface="Calibri"/>
              </a:rPr>
              <a:t>GCIDE etymology count — meanings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377440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1A1A1A"/>
                </a:solidFill>
                <a:latin typeface="Calibri"/>
              </a:rPr>
              <a:t>+.55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377440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1A1A1A"/>
                </a:solidFill>
                <a:latin typeface="Calibri"/>
              </a:rPr>
              <a:t>−.06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889504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99232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5FA3"/>
                </a:solidFill>
                <a:latin typeface="Cambria"/>
              </a:rPr>
              <a:t>wn_n_all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55264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E8E8E"/>
                </a:solidFill>
                <a:latin typeface="Calibri"/>
              </a:rPr>
              <a:t>WordNet sense count — senses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035808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1A1A1A"/>
                </a:solidFill>
                <a:latin typeface="Calibri"/>
              </a:rPr>
              <a:t>+.05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35808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1A1A1A"/>
                </a:solidFill>
                <a:latin typeface="Calibri"/>
              </a:rPr>
              <a:t>+.67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547872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57600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E8E8E"/>
                </a:solidFill>
                <a:latin typeface="Cambria"/>
              </a:rPr>
              <a:t>sim_top2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13632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E8E8E"/>
                </a:solidFill>
                <a:latin typeface="Calibri"/>
              </a:rPr>
              <a:t>Wu–Palmer distance between senses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694176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1A1A1A"/>
                </a:solidFill>
                <a:latin typeface="Calibri"/>
              </a:rPr>
              <a:t>+.00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694176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1A1A1A"/>
                </a:solidFill>
                <a:latin typeface="Calibri"/>
              </a:rPr>
              <a:t>−.01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6240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2304288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5E5E5E"/>
                </a:solidFill>
                <a:latin typeface="Calibri"/>
              </a:rPr>
              <a:t>The two are mirror images.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5E5E5E"/>
                </a:solidFill>
                <a:latin typeface="Calibri"/>
              </a:rPr>
              <a:t>Senses: wn_n_all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5E5E5E"/>
                </a:solidFill>
                <a:latin typeface="Calibri"/>
              </a:rPr>
              <a:t>Meanings: gcide_etymologies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26280"/>
            <a:ext cx="10332720" cy="0"/>
          </a:xfrm>
          <a:prstGeom prst="line">
            <a:avLst/>
          </a:prstGeom>
          <a:noFill/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68172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Validating gcide_etymologies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Partial, controlling wn_n_all   +.553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Partial, controlling log frequency   +.558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5010912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Replicates across labelled sets   Rodd +.41 · Trott &amp; Bergen +.58 · DeLong +.53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DeLong's four levels order monotonically   homonym 2.42 &gt; irregular polyseme 1.42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                                                  &gt; regular polyseme 1.08 &gt; unambiguous 0.89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254496"/>
            <a:ext cx="10149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E8E8E"/>
                </a:solidFill>
                <a:latin typeface="Calibri"/>
              </a:rPr>
              <a:t>Nine WordNet-based candidates all came in at |r| ≤ .10 on meanings. Only a resource carrying headwords and etymology separates them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291072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E8E8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mbria"/>
              </a:rPr>
              <a:t>Stage 1 · reproduce the paper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07008"/>
            <a:ext cx="9692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Before asking the depth question, check that the simulation produces the human pattern at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93392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B7A6B"/>
                </a:solidFill>
                <a:latin typeface="Cambria"/>
              </a:rPr>
              <a:t>Appendix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3200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E8E8E"/>
                </a:solidFill>
                <a:latin typeface="Calibri"/>
              </a:rPr>
              <a:t>Experiment 1 ·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8833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182 words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054096"/>
            <a:ext cx="320040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182112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124 ambiguous vs 58 unambiguous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No sense manipulation — analysed by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993392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E5FA3"/>
                </a:solidFill>
                <a:latin typeface="Cambria"/>
              </a:rPr>
              <a:t>Appendix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377440"/>
            <a:ext cx="3200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E8E8E"/>
                </a:solidFill>
                <a:latin typeface="Calibri"/>
              </a:rPr>
              <a:t>Experiment 2 · visual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8833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128 words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054096"/>
            <a:ext cx="320040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3182112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meanings × senses, 2 × 2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32 per cell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6B4FA8"/>
                </a:solidFill>
                <a:latin typeface="Cambria"/>
              </a:rPr>
              <a:t>Appendix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377440"/>
            <a:ext cx="3200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E8E8E"/>
                </a:solidFill>
                <a:latin typeface="Calibri"/>
              </a:rPr>
              <a:t>Experiment 3 · auditory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68833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92 words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3054096"/>
            <a:ext cx="320040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182112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The same 2 × 2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23 per cell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169663"/>
            <a:ext cx="10332720" cy="0"/>
          </a:xfrm>
          <a:prstGeom prst="line">
            <a:avLst/>
          </a:prstGeom>
          <a:noFill/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334256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Targets to reproduce — all values as published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663440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E8E8E"/>
                </a:solidFill>
                <a:latin typeface="Calibri"/>
              </a:rPr>
              <a:t>Effect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663440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E8E8E"/>
                </a:solidFill>
                <a:latin typeface="Calibri"/>
              </a:rPr>
              <a:t>Direction and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Exp. 1 regression (n = 184)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919472"/>
            <a:ext cx="2468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A8446E"/>
                </a:solidFill>
                <a:latin typeface="Calibri"/>
              </a:rPr>
              <a:t>ambiguity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919472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β = +.18, t = 2.7 — ambiguous slower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23036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Exp. 1 regression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5230368"/>
            <a:ext cx="2468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E5FA3"/>
                </a:solidFill>
                <a:latin typeface="Calibri"/>
              </a:rPr>
              <a:t>word senses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230368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β = −.17, t = −2.4 — more senses, faster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541264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Exp. 2 visual (n = 128)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5541264"/>
            <a:ext cx="2468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Calibri"/>
              </a:rPr>
              <a:t>senses · ambiguity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541264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14 ms faster, significant  /  6 ms slower, not significant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852159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Exp. 3 auditory (n = 92)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5852159"/>
            <a:ext cx="2468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Calibri"/>
              </a:rPr>
              <a:t>senses · ambiguity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852159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33 ms faster, significant  /  29 ms slower, significant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254496"/>
            <a:ext cx="10149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E8E8E"/>
                </a:solidFill>
                <a:latin typeface="Calibri"/>
              </a:rPr>
              <a:t>The pass criterion is the sign, not the milliseconds: senses facilitatory and ambiguity inhibitory within one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291072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E8E8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mbria"/>
              </a:rPr>
              <a:t>Stage 1 · what counts as passing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07008"/>
            <a:ext cx="9692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The sign pattern is the result, not the millisecond values. The verdict is a match in direction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865376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56816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B7A6B"/>
                </a:solidFill>
                <a:latin typeface="Cambria"/>
              </a:rPr>
              <a:t>They must separate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975104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Within one model, senses facilitatory and ambiguity inhibitory — opposite signs.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That dissociation is the paper's claim itself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944368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035808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A8446E"/>
                </a:solidFill>
                <a:latin typeface="Cambria"/>
              </a:rPr>
              <a:t>Collapsing them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3054096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A single pooled “ambiguity effect” counts as a Stage 1 failure regardless of how large it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023360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114800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6B4FA8"/>
                </a:solidFill>
                <a:latin typeface="Cambria"/>
              </a:rPr>
              <a:t>The null is informative too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133087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Ambiguity was not significant in Experiment 2. A significant effect there is a mismatch, not a bonus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102352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193792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0622A"/>
                </a:solidFill>
                <a:latin typeface="Cambria"/>
              </a:rPr>
              <a:t>Fix the measure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5212079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Make layerwise surprisal the primary measure and pre-register the sign predictions before running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181344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00799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If Stage 1 does not pass, the layer profile cannot be interpreted. The depth hypothesis only means something on top of a replication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291072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E8E8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mbria"/>
              </a:rPr>
              <a:t>Procedure · Rodd, Gaskell &amp; Marslen-Wilson (2002)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07008"/>
            <a:ext cx="9692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Read directly from the published Methods. The prompt's trial structure is built to match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mbria"/>
              </a:rPr>
              <a:t>Visual · Experiments 1 and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67712"/>
            <a:ext cx="4846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E8E8E"/>
                </a:solidFill>
                <a:latin typeface="Calibri"/>
              </a:rPr>
              <a:t>Self-paced — no stimulus duration, no response deadline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33472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5FA3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33472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Fixation point, screen centre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33472"/>
            <a:ext cx="1508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>
                <a:solidFill>
                  <a:srgbClr val="1A1A1A"/>
                </a:solidFill>
                <a:latin typeface="Calibri"/>
              </a:rPr>
              <a:t>500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44368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5FA3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4436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Stimulus — word or nonword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944368"/>
            <a:ext cx="1508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>
                <a:solidFill>
                  <a:srgbClr val="1A1A1A"/>
                </a:solidFill>
                <a:latin typeface="Calibri"/>
              </a:rPr>
              <a:t>until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55263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5FA3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55263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Next fixation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255263"/>
            <a:ext cx="1508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>
                <a:solidFill>
                  <a:srgbClr val="1A1A1A"/>
                </a:solidFill>
                <a:latin typeface="Calibri"/>
              </a:rPr>
              <a:t>on response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694176"/>
            <a:ext cx="48463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4048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Four pseudorandom lists, one per block, break after each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Order within a list randomised per participant; all items seen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Nonwords are pseudohomophones — after Azuma &amp; Van Orden (1997)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Practice 30 / 64 items; first 5 / 10 of each block unanalysed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25 participants each (MRC CBU panel)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920240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4FA8"/>
                </a:solidFill>
                <a:latin typeface="Cambria"/>
              </a:rPr>
              <a:t>Auditory · Experiment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267712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E8E8E"/>
                </a:solidFill>
                <a:latin typeface="Calibri"/>
              </a:rPr>
              <a:t>Same 2 × 2, all monosyllabic, 77% overlap with Exp.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633472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4FA8"/>
                </a:solidFill>
                <a:latin typeface="Cambria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633472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Item onset after previous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633472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>
                <a:solidFill>
                  <a:srgbClr val="1A1A1A"/>
                </a:solidFill>
                <a:latin typeface="Calibri"/>
              </a:rPr>
              <a:t>1,000 ms later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944368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4FA8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94436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Response window, then next item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944368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>
                <a:solidFill>
                  <a:srgbClr val="1A1A1A"/>
                </a:solidFill>
                <a:latin typeface="Calibri"/>
              </a:rPr>
              <a:t>3,000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694176"/>
            <a:ext cx="493776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84048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Nonwords are word-like, not pseudohomophones —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by design, to show the effect survives without them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Matched on CELEX log frequency, phonemes, uniqueness point,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duration in ms (601–610), concreteness, familiarity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26 participants (Cambridge students)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254496"/>
            <a:ext cx="10149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E8E8E"/>
                </a:solidFill>
                <a:latin typeface="Calibri"/>
              </a:rPr>
              <a:t>Meanings = separate Wordsmyth entries; senses = sense count within an entry. 113 of the 124 ambiguous words came from Twilley et al. (1994)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291072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E8E8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mbria"/>
              </a:rPr>
              <a:t>Stage 2 · extending to the derived pool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07008"/>
            <a:ext cx="9692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No condition labels, so this is regression rather than a factorial design. The two computed variables make it possible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5681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Items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04288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All derived items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230428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A8446E"/>
                </a:solidFill>
                <a:latin typeface="Calibri"/>
              </a:rPr>
              <a:t>1,633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33472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With gcide_etymologies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633472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A8446E"/>
                </a:solidFill>
                <a:latin typeface="Calibri"/>
              </a:rPr>
              <a:t>1,464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62656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In matched range, both predictors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962656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A8446E"/>
                </a:solidFill>
                <a:latin typeface="Calibri"/>
              </a:rPr>
              <a:t>596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83280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E8E8E"/>
                </a:solidFill>
                <a:latin typeface="Calibri"/>
              </a:rPr>
              <a:t>Matched range: length 4–6, log frequency 2.0–4.0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12463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Calibri"/>
              </a:rPr>
              <a:t>gcide_etymologies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68496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1 → 359 words · 2 → 129 · 3 → 34 · 4 or more →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568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Model fitted at each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04288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onsolas"/>
              </a:rPr>
              <a:t>layer_k ~ gcide_etymologies + wn_n_all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onsolas"/>
              </a:rPr>
              <a:t>                + log_subtlex + length + concreteness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80944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E8E8E"/>
                </a:solidFill>
                <a:latin typeface="Calibri"/>
              </a:rPr>
              <a:t>Fit separately per layer k, then compare the coefficient trajectories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291840"/>
            <a:ext cx="493776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438144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Calibri"/>
              </a:rPr>
              <a:t>Collinearity among predictors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712463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gcide_etymologies × wn_n_all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712463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>
                <a:solidFill>
                  <a:srgbClr val="1A1A1A"/>
                </a:solidFill>
                <a:latin typeface="Calibri"/>
              </a:rPr>
              <a:t>.33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986783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gcide_etymologies × log_subtlex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3986783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>
                <a:solidFill>
                  <a:srgbClr val="1A1A1A"/>
                </a:solidFill>
                <a:latin typeface="Calibri"/>
              </a:rPr>
              <a:t>.22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261103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Calibri"/>
              </a:rPr>
              <a:t>wn_n_all × log_subtlex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4261103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>
                <a:solidFill>
                  <a:srgbClr val="1A1A1A"/>
                </a:solidFill>
                <a:latin typeface="Calibri"/>
              </a:rPr>
              <a:t>.45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590288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E8E8E"/>
                </a:solidFill>
                <a:latin typeface="Calibri"/>
              </a:rPr>
              <a:t>Workable. Enter frequency alongside both and report VIF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882896"/>
            <a:ext cx="10332720" cy="0"/>
          </a:xfrm>
          <a:prstGeom prst="line">
            <a:avLst/>
          </a:prstGeom>
          <a:noFill/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04748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B7A6B"/>
                </a:solidFill>
                <a:latin typeface="Calibri"/>
              </a:rPr>
              <a:t>What this can show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340096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Whether the layer profile found on 309 hand-picked items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holds its shape across ten times as many words that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nobody selected for the purpose — the strongest available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check against item-selection artifacts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04748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A8446E"/>
                </a:solidFill>
                <a:latin typeface="Calibri"/>
              </a:rPr>
              <a:t>What it cannot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340096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It is not a replication of Rodd et al. These items were never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shown to humans and the predictors are computed, not normed.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Report it as a generalisation analysis on a derived pool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291072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E8E8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mbria"/>
              </a:rPr>
              <a:t>Route 2 · prompt 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07008"/>
            <a:ext cx="9692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Hold the items fixed, vary the input. This is what separates a processing stage from an item property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1901952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E8E8E"/>
                </a:solidFill>
                <a:latin typeface="Calibri"/>
              </a:rPr>
              <a:t>Manipulation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901952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E8E8E"/>
                </a:solidFill>
                <a:latin typeface="Calibri"/>
              </a:rPr>
              <a:t>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57984"/>
            <a:ext cx="10332720" cy="0"/>
          </a:xfrm>
          <a:prstGeom prst="line">
            <a:avLst/>
          </a:prstGeom>
          <a:noFill/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0428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5FA3"/>
                </a:solidFill>
                <a:latin typeface="Cambria"/>
              </a:rPr>
              <a:t>No context vs biasing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331720"/>
            <a:ext cx="3474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Presented alone, or in a sentence that biases one meaning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331720"/>
            <a:ext cx="3383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A biasing context shrinks the deep-layer ambiguity effect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944368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9067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4FA8"/>
                </a:solidFill>
                <a:latin typeface="Cambria"/>
              </a:rPr>
              <a:t>Dominant vs subordinate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118103"/>
            <a:ext cx="3474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Bias with or against the dominant 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118103"/>
            <a:ext cx="3383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The subordinate reading carries the effect further into depth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730752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77056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0622A"/>
                </a:solidFill>
                <a:latin typeface="Cambria"/>
              </a:rPr>
              <a:t>Task instruction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904488"/>
            <a:ext cx="3474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Lexical decision instruction vs relatedness judgment instruction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904488"/>
            <a:ext cx="3383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The semantic task enlarges deep effects, leaves shallow ones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517136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634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A8446E"/>
                </a:solidFill>
                <a:latin typeface="Cambria"/>
              </a:rPr>
              <a:t>Frequency-crossed prompts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690872"/>
            <a:ext cx="3474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Cross high- and low-frequency items within one 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690872"/>
            <a:ext cx="3383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The frequency effect stays shallow under every condition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303520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50468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The interaction is the 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15584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If prompt condition interacts with layer for ambiguity but not for frequency, the claim that the two variables occupy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different processing stages is supported from the stimulus side and the prompt side at the same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291072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E8E8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mbria"/>
              </a:rPr>
              <a:t>Screening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07008"/>
            <a:ext cx="9692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Decisions to fix before any analysis begins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01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5FA3"/>
                </a:solidFill>
                <a:latin typeface="Cambr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01952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Calibri"/>
              </a:rPr>
              <a:t>Fix the measure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1920240"/>
            <a:ext cx="5349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Layerwise surprisal as primary. Distance alone leaves the frequency half untestable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32303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5FA3"/>
                </a:solidFill>
                <a:latin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96896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Calibri"/>
              </a:rPr>
              <a:t>Match across conditions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615184"/>
            <a:ext cx="5349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Log frequency, length, concreteness. Senses correlate with frequency at r ≈ .49, so frequency is the hard 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27247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91839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5FA3"/>
                </a:solidFill>
                <a:latin typeface="Cambr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291839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Calibri"/>
              </a:rPr>
              <a:t>Exclude inflected 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3310127"/>
            <a:ext cx="5349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WordNet sense counts are inflated for plurals — stocks, heads, bases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822191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86783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5FA3"/>
                </a:solidFill>
                <a:latin typeface="Cambr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86783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Calibri"/>
              </a:rPr>
              <a:t>Screen out emotional extremes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4005071"/>
            <a:ext cx="5349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Valence runs through a separate route and contaminates the late effects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517136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81727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5FA3"/>
                </a:solidFill>
                <a:latin typeface="Cambria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681727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Calibri"/>
              </a:rPr>
              <a:t>Decide on gcide_etymologies =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4700015"/>
            <a:ext cx="5349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In GCIDE, no etymology recorded. Drop or recode to 1 — decide first, then state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212079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376671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5FA3"/>
                </a:solidFill>
                <a:latin typeface="Cambria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376671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Calibri"/>
              </a:rPr>
              <a:t>Never mix the stages in one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5394959"/>
            <a:ext cx="5349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E5E5E"/>
                </a:solidFill>
                <a:latin typeface="Calibri"/>
              </a:rPr>
              <a:t>provenance is confounded with length, frequency and neighbourhood size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907023"/>
            <a:ext cx="10332720" cy="0"/>
          </a:xfrm>
          <a:prstGeom prst="line">
            <a:avLst/>
          </a:prstGeom>
          <a:noFill/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126479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A8446E"/>
                </a:solidFill>
                <a:latin typeface="Calibri"/>
              </a:rPr>
              <a:t>Still missing — dominance. eDom, Twilley et al. (1994) or Gilbert &amp; Rodd (2022) would make the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A8446E"/>
                </a:solidFill>
                <a:latin typeface="Calibri"/>
              </a:rPr>
              <a:t>dominant/subordinate manipulation in Route 2 possible immediately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291072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E8E8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Word Frequency</dc:title>
  <dc:subject>PptxGenJS Presentation</dc:subject>
  <dc:creator>PptxGenJS</dc:creator>
  <cp:lastModifiedBy>PptxGenJS</cp:lastModifiedBy>
  <cp:revision>1</cp:revision>
  <dcterms:created xsi:type="dcterms:W3CDTF">2026-09-19T02:31:07Z</dcterms:created>
  <dcterms:modified xsi:type="dcterms:W3CDTF">2026-09-19T02:31:07Z</dcterms:modified>
</cp:coreProperties>
</file>